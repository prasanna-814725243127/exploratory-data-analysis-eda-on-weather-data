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a982b5d-c7c5-febc-e5e8-08fd390eccfb}">
          <p14:sldIdLst>
            <p14:sldId id="256"/>
            <p14:sldId id="257"/>
            <p14:sldId id="258"/>
          </p14:sldIdLst>
        </p14:section>
        <p14:section name="Data preparation" id="{b5a2ea9c-c3b8-7af2-036b-80a958ebf7d4}">
          <p14:sldIdLst>
            <p14:sldId id="259"/>
            <p14:sldId id="260"/>
          </p14:sldIdLst>
        </p14:section>
        <p14:section name="Exploration" id="{68ed8a29-d055-d991-0fc4-61b7ef1142ae}">
          <p14:sldIdLst>
            <p14:sldId id="261"/>
            <p14:sldId id="262"/>
            <p14:sldId id="263"/>
            <p14:sldId id="264"/>
          </p14:sldIdLst>
        </p14:section>
        <p14:section name="Wrap-up" id="{2673c24f-d553-985b-92e7-d434aa2c9cd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Missing values by variable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7A9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7A9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Cloud cover</c:v>
                  </c:pt>
                  <c:pt idx="1">
                    <c:v>Visibility</c:v>
                  </c:pt>
                  <c:pt idx="2">
                    <c:v>Precipitation</c:v>
                  </c:pt>
                  <c:pt idx="3">
                    <c:v>Wind direction</c:v>
                  </c:pt>
                  <c:pt idx="4">
                    <c:v>Wind speed</c:v>
                  </c:pt>
                  <c:pt idx="5">
                    <c:v>Pressure</c:v>
                  </c:pt>
                  <c:pt idx="6">
                    <c:v>Humidity</c:v>
                  </c:pt>
                  <c:pt idx="7">
                    <c:v>Temperature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11.2</c:v>
                </c:pt>
                <c:pt idx="1">
                  <c:v>8.4</c:v>
                </c:pt>
                <c:pt idx="2">
                  <c:v>5.7</c:v>
                </c:pt>
                <c:pt idx="3">
                  <c:v>3.1</c:v>
                </c:pt>
                <c:pt idx="4">
                  <c:v>2.6</c:v>
                </c:pt>
                <c:pt idx="5">
                  <c:v>1.8</c:v>
                </c:pt>
                <c:pt idx="6">
                  <c:v>0.9</c:v>
                </c:pt>
                <c:pt idx="7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Temperature distribution (% of hours, °C bins)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hours (%)</c:v>
                </c:pt>
              </c:strCache>
            </c:strRef>
          </c:tx>
          <c:spPr>
            <a:solidFill>
              <a:srgbClr val="1F7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&lt;0</c:v>
                  </c:pt>
                  <c:pt idx="1">
                    <c:v>0-5</c:v>
                  </c:pt>
                  <c:pt idx="2">
                    <c:v>5-10</c:v>
                  </c:pt>
                  <c:pt idx="3">
                    <c:v>10-15</c:v>
                  </c:pt>
                  <c:pt idx="4">
                    <c:v>15-20</c:v>
                  </c:pt>
                  <c:pt idx="5">
                    <c:v>20-25</c:v>
                  </c:pt>
                  <c:pt idx="6">
                    <c:v>25-30</c:v>
                  </c:pt>
                  <c:pt idx="7">
                    <c:v>30+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6</c:v>
                </c:pt>
                <c:pt idx="2">
                  <c:v>14</c:v>
                </c:pt>
                <c:pt idx="3">
                  <c:v>19</c:v>
                </c:pt>
                <c:pt idx="4">
                  <c:v>22</c:v>
                </c:pt>
                <c:pt idx="5">
                  <c:v>20</c:v>
                </c:pt>
                <c:pt idx="6">
                  <c:v>12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Monthly mean temperature (°C)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(°C)</c:v>
                </c:pt>
              </c:strCache>
            </c:strRef>
          </c:tx>
          <c:spPr>
            <a:solidFill>
              <a:srgbClr val="D9663F"/>
            </a:solidFill>
            <a:ln w="38100" cap="flat">
              <a:solidFill>
                <a:srgbClr val="D96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663F"/>
              </a:solidFill>
              <a:ln w="9525" cap="flat">
                <a:solidFill>
                  <a:srgbClr val="D96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9</c:v>
                </c:pt>
                <c:pt idx="2">
                  <c:v>13</c:v>
                </c:pt>
                <c:pt idx="3">
                  <c:v>17</c:v>
                </c:pt>
                <c:pt idx="4">
                  <c:v>21</c:v>
                </c:pt>
                <c:pt idx="5">
                  <c:v>25</c:v>
                </c:pt>
                <c:pt idx="6">
                  <c:v>28</c:v>
                </c:pt>
                <c:pt idx="7">
                  <c:v>27</c:v>
                </c:pt>
                <c:pt idx="8">
                  <c:v>23</c:v>
                </c:pt>
                <c:pt idx="9">
                  <c:v>18</c:v>
                </c:pt>
                <c:pt idx="10">
                  <c:v>12</c:v>
                </c:pt>
                <c:pt idx="11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A"/>
                </a:solidFill>
                <a:latin typeface="+mn-lt"/>
              </a:rPr>
              <a:t>Monthly total rainfall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1F7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</c:v>
                </c:pt>
                <c:pt idx="1">
                  <c:v>48</c:v>
                </c:pt>
                <c:pt idx="2">
                  <c:v>55</c:v>
                </c:pt>
                <c:pt idx="3">
                  <c:v>50</c:v>
                </c:pt>
                <c:pt idx="4">
                  <c:v>58</c:v>
                </c:pt>
                <c:pt idx="5">
                  <c:v>52</c:v>
                </c:pt>
                <c:pt idx="6">
                  <c:v>45</c:v>
                </c:pt>
                <c:pt idx="7">
                  <c:v>50</c:v>
                </c:pt>
                <c:pt idx="8">
                  <c:v>58</c:v>
                </c:pt>
                <c:pt idx="9">
                  <c:v>65</c:v>
                </c:pt>
                <c:pt idx="10">
                  <c:v>70</c:v>
                </c:pt>
                <c:pt idx="11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a standard exploratory data analysis (EDA) on weather data. Figures shown are illustrative; replace them with results from your own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Stress that EDA is iterative: an odd distribution or correlation often reveals a data quality problem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year of hourly readings from a single station: eight numeric measurements plus a timestamp and a text weather condition. Numbers on this slide are placeholders for your own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Missingness is concentrated in cloud cover and visibility, which are often manually or optically recorded. Short gaps in smooth variables can be interpolated; larger ones need imputation or exclusion.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describe() for a first pass. The gap between mean and max for rainfall already hints at a heavily skewed, zero-inflated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Histograms show shape, spread and tails at a glance. Temperature looks near-normal; rainfall will need a transformation or a split between dry and wet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Resample hourly data to monthly means (temperature) and sums (rainfall). Clear seasonality; the offset between the two curves is worth noting before any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correlation matrix is a map for where to dig next. Remind the audience that correlation is not causation, and that Pearson r only captures linear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more than one method and compare. About 0.8% of readings were flagged in this illustrative run. Always sanity-check against physical limits before removing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snippet covers inspection, missing values, distribution, monthly trends and correlation in a handful of lines. Column names are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findings to actions. Invite the audience to swap in their own dataset and rerun the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004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Weather data EDA  |  illustrative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Exploratory Data Analysis of Weather Data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200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From raw readings to patterns: a practical walkthrough</a:t>
            </a:r>
            <a:endParaRPr lang="en-US" sz="1800" dirty="0"/>
          </a:p>
        </p:txBody>
      </p:sp>
      <p:sp>
        <p:nvSpPr>
          <p:cNvPr id="4" name="Sun"/>
          <p:cNvSpPr/>
          <p:nvPr/>
        </p:nvSpPr>
        <p:spPr>
          <a:xfrm>
            <a:off x="6492240" y="64008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Cloud left"/>
          <p:cNvSpPr/>
          <p:nvPr/>
        </p:nvSpPr>
        <p:spPr>
          <a:xfrm>
            <a:off x="5760720" y="2697480"/>
            <a:ext cx="1554480" cy="9144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6" name="Cloud top"/>
          <p:cNvSpPr/>
          <p:nvPr/>
        </p:nvSpPr>
        <p:spPr>
          <a:xfrm>
            <a:off x="6675120" y="2331720"/>
            <a:ext cx="1737360" cy="12801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" name="Cloud right"/>
          <p:cNvSpPr/>
          <p:nvPr/>
        </p:nvSpPr>
        <p:spPr>
          <a:xfrm>
            <a:off x="7406640" y="2788920"/>
            <a:ext cx="1280160" cy="8229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Cloud base"/>
          <p:cNvSpPr/>
          <p:nvPr/>
        </p:nvSpPr>
        <p:spPr>
          <a:xfrm>
            <a:off x="6217920" y="3017520"/>
            <a:ext cx="2286000" cy="594360"/>
          </a:xfrm>
          <a:prstGeom prst="roundRect">
            <a:avLst>
              <a:gd name="adj" fmla="val 46154"/>
            </a:avLst>
          </a:prstGeom>
          <a:solidFill>
            <a:schemeClr val="bg2"/>
          </a:solidFill>
          <a:ln/>
        </p:spPr>
      </p:sp>
      <p:sp>
        <p:nvSpPr>
          <p:cNvPr id="9" name="Raindrop 1"/>
          <p:cNvSpPr/>
          <p:nvPr/>
        </p:nvSpPr>
        <p:spPr>
          <a:xfrm rot="900000">
            <a:off x="6355080" y="3840480"/>
            <a:ext cx="109728" cy="411480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/>
        </p:spPr>
      </p:sp>
      <p:sp>
        <p:nvSpPr>
          <p:cNvPr id="10" name="Raindrop 2"/>
          <p:cNvSpPr/>
          <p:nvPr/>
        </p:nvSpPr>
        <p:spPr>
          <a:xfrm rot="900000">
            <a:off x="7086600" y="3977640"/>
            <a:ext cx="109728" cy="411480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/>
        </p:spPr>
      </p:sp>
      <p:sp>
        <p:nvSpPr>
          <p:cNvPr id="11" name="Raindrop 3"/>
          <p:cNvSpPr/>
          <p:nvPr/>
        </p:nvSpPr>
        <p:spPr>
          <a:xfrm rot="900000">
            <a:off x="7818120" y="3840480"/>
            <a:ext cx="109728" cy="411480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EDA workflow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1499616" cy="25603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612648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itle 1"/>
          <p:cNvSpPr txBox="1"/>
          <p:nvPr/>
        </p:nvSpPr>
        <p:spPr>
          <a:xfrm>
            <a:off x="612648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Load &amp; inspect</a:t>
            </a:r>
            <a:endParaRPr lang="en-US" sz="1500" dirty="0"/>
          </a:p>
        </p:txBody>
      </p:sp>
      <p:sp>
        <p:nvSpPr>
          <p:cNvPr id="6" name="Step text 1"/>
          <p:cNvSpPr txBox="1"/>
          <p:nvPr/>
        </p:nvSpPr>
        <p:spPr>
          <a:xfrm>
            <a:off x="612648" y="2788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Shape, dtypes, date range, units</a:t>
            </a:r>
            <a:endParaRPr lang="en-US" sz="1200" dirty="0"/>
          </a:p>
        </p:txBody>
      </p:sp>
      <p:sp>
        <p:nvSpPr>
          <p:cNvPr id="7" name="Step card 2"/>
          <p:cNvSpPr/>
          <p:nvPr/>
        </p:nvSpPr>
        <p:spPr>
          <a:xfrm>
            <a:off x="2139696" y="1371600"/>
            <a:ext cx="1499616" cy="25603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8" name="Step number 2"/>
          <p:cNvSpPr/>
          <p:nvPr/>
        </p:nvSpPr>
        <p:spPr>
          <a:xfrm>
            <a:off x="2295144" y="15544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itle 2"/>
          <p:cNvSpPr txBox="1"/>
          <p:nvPr/>
        </p:nvSpPr>
        <p:spPr>
          <a:xfrm>
            <a:off x="2295144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</a:t>
            </a:r>
            <a:endParaRPr lang="en-US" sz="1500" dirty="0"/>
          </a:p>
        </p:txBody>
      </p:sp>
      <p:sp>
        <p:nvSpPr>
          <p:cNvPr id="10" name="Step text 2"/>
          <p:cNvSpPr txBox="1"/>
          <p:nvPr/>
        </p:nvSpPr>
        <p:spPr>
          <a:xfrm>
            <a:off x="2295144" y="2788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Handle gaps, duplicates, bad sensor values</a:t>
            </a:r>
            <a:endParaRPr lang="en-US" sz="1200" dirty="0"/>
          </a:p>
        </p:txBody>
      </p:sp>
      <p:sp>
        <p:nvSpPr>
          <p:cNvPr id="11" name="Step card 3"/>
          <p:cNvSpPr/>
          <p:nvPr/>
        </p:nvSpPr>
        <p:spPr>
          <a:xfrm>
            <a:off x="3822192" y="1371600"/>
            <a:ext cx="1499616" cy="25603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2" name="Step number 3"/>
          <p:cNvSpPr/>
          <p:nvPr/>
        </p:nvSpPr>
        <p:spPr>
          <a:xfrm>
            <a:off x="39776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title 3"/>
          <p:cNvSpPr txBox="1"/>
          <p:nvPr/>
        </p:nvSpPr>
        <p:spPr>
          <a:xfrm>
            <a:off x="3977640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Describe</a:t>
            </a:r>
            <a:endParaRPr lang="en-US" sz="1500" dirty="0"/>
          </a:p>
        </p:txBody>
      </p:sp>
      <p:sp>
        <p:nvSpPr>
          <p:cNvPr id="14" name="Step text 3"/>
          <p:cNvSpPr txBox="1"/>
          <p:nvPr/>
        </p:nvSpPr>
        <p:spPr>
          <a:xfrm>
            <a:off x="3977640" y="2788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Summary stats and distributions</a:t>
            </a:r>
            <a:endParaRPr lang="en-US" sz="1200" dirty="0"/>
          </a:p>
        </p:txBody>
      </p:sp>
      <p:sp>
        <p:nvSpPr>
          <p:cNvPr id="15" name="Step card 4"/>
          <p:cNvSpPr/>
          <p:nvPr/>
        </p:nvSpPr>
        <p:spPr>
          <a:xfrm>
            <a:off x="5504688" y="1371600"/>
            <a:ext cx="1499616" cy="25603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6" name="Step number 4"/>
          <p:cNvSpPr/>
          <p:nvPr/>
        </p:nvSpPr>
        <p:spPr>
          <a:xfrm>
            <a:off x="5660136" y="15544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title 4"/>
          <p:cNvSpPr txBox="1"/>
          <p:nvPr/>
        </p:nvSpPr>
        <p:spPr>
          <a:xfrm>
            <a:off x="5660136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Explore</a:t>
            </a:r>
            <a:endParaRPr lang="en-US" sz="1500" dirty="0"/>
          </a:p>
        </p:txBody>
      </p:sp>
      <p:sp>
        <p:nvSpPr>
          <p:cNvPr id="18" name="Step text 4"/>
          <p:cNvSpPr txBox="1"/>
          <p:nvPr/>
        </p:nvSpPr>
        <p:spPr>
          <a:xfrm>
            <a:off x="5660136" y="2788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Trends, seasonality, correlations</a:t>
            </a:r>
            <a:endParaRPr lang="en-US" sz="1200" dirty="0"/>
          </a:p>
        </p:txBody>
      </p:sp>
      <p:sp>
        <p:nvSpPr>
          <p:cNvPr id="19" name="Step card 5"/>
          <p:cNvSpPr/>
          <p:nvPr/>
        </p:nvSpPr>
        <p:spPr>
          <a:xfrm>
            <a:off x="7187184" y="1371600"/>
            <a:ext cx="1499616" cy="25603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0" name="Step number 5"/>
          <p:cNvSpPr/>
          <p:nvPr/>
        </p:nvSpPr>
        <p:spPr>
          <a:xfrm>
            <a:off x="7342632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tep title 5"/>
          <p:cNvSpPr txBox="1"/>
          <p:nvPr/>
        </p:nvSpPr>
        <p:spPr>
          <a:xfrm>
            <a:off x="7342632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Conclude</a:t>
            </a:r>
            <a:endParaRPr lang="en-US" sz="1500" dirty="0"/>
          </a:p>
        </p:txBody>
      </p:sp>
      <p:sp>
        <p:nvSpPr>
          <p:cNvPr id="22" name="Step text 5"/>
          <p:cNvSpPr txBox="1"/>
          <p:nvPr/>
        </p:nvSpPr>
        <p:spPr>
          <a:xfrm>
            <a:off x="7342632" y="2788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Findings, caveats, next steps</a:t>
            </a:r>
            <a:endParaRPr lang="en-US" sz="1200" dirty="0"/>
          </a:p>
        </p:txBody>
      </p:sp>
      <p:sp>
        <p:nvSpPr>
          <p:cNvPr id="23" name="Loop note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It is a loop: what you find later often sends you back to cleaning.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the dataset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64008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8,760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64008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hourly observations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587752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2770632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2770632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weather variables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718304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4901184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901184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months of coverage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848856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7031736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4.3%</a:t>
            </a:r>
            <a:endParaRPr lang="en-US" sz="4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7031736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avg. missing (numeric)</a:t>
            </a:r>
            <a:endParaRPr lang="en-US" sz="1400" dirty="0"/>
          </a:p>
        </p:txBody>
      </p:sp>
      <p:sp>
        <p:nvSpPr>
          <p:cNvPr id="15" name="Variables heading"/>
          <p:cNvSpPr txBox="1"/>
          <p:nvPr/>
        </p:nvSpPr>
        <p:spPr>
          <a:xfrm>
            <a:off x="4572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Variables</a:t>
            </a:r>
            <a:endParaRPr lang="en-US" sz="1800" dirty="0"/>
          </a:p>
        </p:txBody>
      </p:sp>
      <p:sp>
        <p:nvSpPr>
          <p:cNvPr id="16" name="Variable chip 1"/>
          <p:cNvSpPr/>
          <p:nvPr/>
        </p:nvSpPr>
        <p:spPr>
          <a:xfrm>
            <a:off x="457200" y="3200400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17" name="Variable chip 2"/>
          <p:cNvSpPr/>
          <p:nvPr/>
        </p:nvSpPr>
        <p:spPr>
          <a:xfrm>
            <a:off x="2139696" y="3200400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Humidity</a:t>
            </a:r>
            <a:endParaRPr lang="en-US" sz="1200" dirty="0"/>
          </a:p>
        </p:txBody>
      </p:sp>
      <p:sp>
        <p:nvSpPr>
          <p:cNvPr id="18" name="Variable chip 3"/>
          <p:cNvSpPr/>
          <p:nvPr/>
        </p:nvSpPr>
        <p:spPr>
          <a:xfrm>
            <a:off x="3822192" y="3200400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Pressure</a:t>
            </a:r>
            <a:endParaRPr lang="en-US" sz="1200" dirty="0"/>
          </a:p>
        </p:txBody>
      </p:sp>
      <p:sp>
        <p:nvSpPr>
          <p:cNvPr id="19" name="Variable chip 4"/>
          <p:cNvSpPr/>
          <p:nvPr/>
        </p:nvSpPr>
        <p:spPr>
          <a:xfrm>
            <a:off x="5504688" y="3200400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Wind speed</a:t>
            </a:r>
            <a:endParaRPr lang="en-US" sz="1200" dirty="0"/>
          </a:p>
        </p:txBody>
      </p:sp>
      <p:sp>
        <p:nvSpPr>
          <p:cNvPr id="20" name="Variable chip 5"/>
          <p:cNvSpPr/>
          <p:nvPr/>
        </p:nvSpPr>
        <p:spPr>
          <a:xfrm>
            <a:off x="7187184" y="3200400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Wind direction</a:t>
            </a:r>
            <a:endParaRPr lang="en-US" sz="1200" dirty="0"/>
          </a:p>
        </p:txBody>
      </p:sp>
      <p:sp>
        <p:nvSpPr>
          <p:cNvPr id="21" name="Variable chip 6"/>
          <p:cNvSpPr/>
          <p:nvPr/>
        </p:nvSpPr>
        <p:spPr>
          <a:xfrm>
            <a:off x="457200" y="3675888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Precipitation</a:t>
            </a:r>
            <a:endParaRPr lang="en-US" sz="1200" dirty="0"/>
          </a:p>
        </p:txBody>
      </p:sp>
      <p:sp>
        <p:nvSpPr>
          <p:cNvPr id="22" name="Variable chip 7"/>
          <p:cNvSpPr/>
          <p:nvPr/>
        </p:nvSpPr>
        <p:spPr>
          <a:xfrm>
            <a:off x="2139696" y="3675888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Visibility</a:t>
            </a:r>
            <a:endParaRPr lang="en-US" sz="1200" dirty="0"/>
          </a:p>
        </p:txBody>
      </p:sp>
      <p:sp>
        <p:nvSpPr>
          <p:cNvPr id="23" name="Variable chip 8"/>
          <p:cNvSpPr/>
          <p:nvPr/>
        </p:nvSpPr>
        <p:spPr>
          <a:xfrm>
            <a:off x="3822192" y="3675888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Cloud cover</a:t>
            </a:r>
            <a:endParaRPr lang="en-US" sz="1200" dirty="0"/>
          </a:p>
        </p:txBody>
      </p:sp>
      <p:sp>
        <p:nvSpPr>
          <p:cNvPr id="24" name="Variable chip 9"/>
          <p:cNvSpPr/>
          <p:nvPr/>
        </p:nvSpPr>
        <p:spPr>
          <a:xfrm>
            <a:off x="5504688" y="3675888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Timestamp</a:t>
            </a:r>
            <a:endParaRPr lang="en-US" sz="1200" dirty="0"/>
          </a:p>
        </p:txBody>
      </p:sp>
      <p:sp>
        <p:nvSpPr>
          <p:cNvPr id="25" name="Variable chip 10"/>
          <p:cNvSpPr/>
          <p:nvPr/>
        </p:nvSpPr>
        <p:spPr>
          <a:xfrm>
            <a:off x="7187184" y="3675888"/>
            <a:ext cx="1499616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26" name="Chip legend"/>
          <p:cNvSpPr txBox="1"/>
          <p:nvPr/>
        </p:nvSpPr>
        <p:spPr>
          <a:xfrm>
            <a:off x="45720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Teal = numeric   |   Amber = time / categorical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quality check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Amber = above 5% missing</a:t>
            </a:r>
            <a:endParaRPr lang="en-US" sz="1100" dirty="0"/>
          </a:p>
        </p:txBody>
      </p:sp>
      <p:sp>
        <p:nvSpPr>
          <p:cNvPr id="5" name="Plan number 1"/>
          <p:cNvSpPr/>
          <p:nvPr/>
        </p:nvSpPr>
        <p:spPr>
          <a:xfrm>
            <a:off x="5669280" y="137160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lan text 1"/>
          <p:cNvSpPr txBox="1"/>
          <p:nvPr/>
        </p:nvSpPr>
        <p:spPr>
          <a:xfrm>
            <a:off x="6263640" y="1371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Interpolate gaps of 3 hours or less in temperature, pressure and wind</a:t>
            </a:r>
            <a:endParaRPr lang="en-US" sz="1400" dirty="0"/>
          </a:p>
        </p:txBody>
      </p:sp>
      <p:sp>
        <p:nvSpPr>
          <p:cNvPr id="7" name="Plan number 2"/>
          <p:cNvSpPr/>
          <p:nvPr/>
        </p:nvSpPr>
        <p:spPr>
          <a:xfrm>
            <a:off x="5669280" y="242316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Plan text 2"/>
          <p:cNvSpPr txBox="1"/>
          <p:nvPr/>
        </p:nvSpPr>
        <p:spPr>
          <a:xfrm>
            <a:off x="6263640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Impute or flag cloud cover and visibility before modeling</a:t>
            </a:r>
            <a:endParaRPr lang="en-US" sz="1400" dirty="0"/>
          </a:p>
        </p:txBody>
      </p:sp>
      <p:sp>
        <p:nvSpPr>
          <p:cNvPr id="9" name="Plan number 3"/>
          <p:cNvSpPr/>
          <p:nvPr/>
        </p:nvSpPr>
        <p:spPr>
          <a:xfrm>
            <a:off x="5669280" y="347472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Plan text 3"/>
          <p:cNvSpPr txBox="1"/>
          <p:nvPr/>
        </p:nvSpPr>
        <p:spPr>
          <a:xfrm>
            <a:off x="6263640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 timestamps and standardize units (°C, hPa, km/h)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Descriptive statistics</a:t>
            </a:r>
            <a:endParaRPr lang="en-US" sz="3600" dirty="0"/>
          </a:p>
        </p:txBody>
      </p:sp>
      <p:graphicFrame>
        <p:nvGraphicFramePr>
          <p:cNvPr id="6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0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</a:rPr>
                        <a:t>Temperature (°C)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15.8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7.4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-6.2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38.9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</a:rPr>
                        <a:t>Humidity (%)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68.4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17.9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</a:rPr>
                        <a:t>Pressure (hPa)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1013.6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7.8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975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1042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</a:rPr>
                        <a:t>Wind speed (km/h)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14.2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7.1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</a:rPr>
                        <a:t>Rainfall (mm/h)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0.12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0.74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Insight card 1"/>
          <p:cNvSpPr/>
          <p:nvPr/>
        </p:nvSpPr>
        <p:spPr>
          <a:xfrm>
            <a:off x="457200" y="361188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5" name="Insight text 1"/>
          <p:cNvSpPr txBox="1"/>
          <p:nvPr/>
        </p:nvSpPr>
        <p:spPr>
          <a:xfrm>
            <a:off x="640080" y="37216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Rainfall is skewed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0.12 mm/h versus a max of 41: most hours are dry.</a:t>
            </a:r>
            <a:endParaRPr lang="en-US" sz="1400" dirty="0"/>
          </a:p>
        </p:txBody>
      </p:sp>
      <p:sp>
        <p:nvSpPr>
          <p:cNvPr id="6" name="Insight card 2"/>
          <p:cNvSpPr/>
          <p:nvPr/>
        </p:nvSpPr>
        <p:spPr>
          <a:xfrm>
            <a:off x="4663440" y="361188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Insight text 2"/>
          <p:cNvSpPr txBox="1"/>
          <p:nvPr/>
        </p:nvSpPr>
        <p:spPr>
          <a:xfrm>
            <a:off x="4846320" y="37216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Pressure is stable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Std dev of 7.8 hPa; the lows line up with storm systems.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Distributions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e card 1"/>
          <p:cNvSpPr/>
          <p:nvPr/>
        </p:nvSpPr>
        <p:spPr>
          <a:xfrm>
            <a:off x="5852160" y="1371600"/>
            <a:ext cx="2834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Note text 1"/>
          <p:cNvSpPr txBox="1"/>
          <p:nvPr/>
        </p:nvSpPr>
        <p:spPr>
          <a:xfrm>
            <a:off x="6035040" y="14813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 is roughly bell-shaped, centered near 16 °C</a:t>
            </a:r>
            <a:endParaRPr lang="en-US" sz="1400" dirty="0"/>
          </a:p>
        </p:txBody>
      </p:sp>
      <p:sp>
        <p:nvSpPr>
          <p:cNvPr id="6" name="Note card 2"/>
          <p:cNvSpPr/>
          <p:nvPr/>
        </p:nvSpPr>
        <p:spPr>
          <a:xfrm>
            <a:off x="5852160" y="2423160"/>
            <a:ext cx="2834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Note text 2"/>
          <p:cNvSpPr txBox="1"/>
          <p:nvPr/>
        </p:nvSpPr>
        <p:spPr>
          <a:xfrm>
            <a:off x="6035040" y="2532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thin right tail comes from summer heat peaks</a:t>
            </a:r>
            <a:endParaRPr lang="en-US" sz="1400" dirty="0"/>
          </a:p>
        </p:txBody>
      </p:sp>
      <p:sp>
        <p:nvSpPr>
          <p:cNvPr id="8" name="Note card 3"/>
          <p:cNvSpPr/>
          <p:nvPr/>
        </p:nvSpPr>
        <p:spPr>
          <a:xfrm>
            <a:off x="5852160" y="3474720"/>
            <a:ext cx="2834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Note text 3"/>
          <p:cNvSpPr txBox="1"/>
          <p:nvPr/>
        </p:nvSpPr>
        <p:spPr>
          <a:xfrm>
            <a:off x="6035040" y="3584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Rainfall is zero-inflated: try a log scale or wet hours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Trends over time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28016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 banne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6" name="Takeaway text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Heat peaks in July-August while rainfall peaks in autumn and winter, so the two are out of phase.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Correlations</a:t>
            </a:r>
            <a:endParaRPr lang="en-US" sz="3600" dirty="0"/>
          </a:p>
        </p:txBody>
      </p:sp>
      <p:sp>
        <p:nvSpPr>
          <p:cNvPr id="3" name="Col label Temp"/>
          <p:cNvSpPr txBox="1"/>
          <p:nvPr/>
        </p:nvSpPr>
        <p:spPr>
          <a:xfrm>
            <a:off x="1508760" y="13258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Temp</a:t>
            </a:r>
            <a:endParaRPr lang="en-US" sz="1200" dirty="0"/>
          </a:p>
        </p:txBody>
      </p:sp>
      <p:sp>
        <p:nvSpPr>
          <p:cNvPr id="4" name="Row label Temp"/>
          <p:cNvSpPr txBox="1"/>
          <p:nvPr/>
        </p:nvSpPr>
        <p:spPr>
          <a:xfrm>
            <a:off x="457200" y="1645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Temp</a:t>
            </a:r>
            <a:endParaRPr lang="en-US" sz="1200" dirty="0"/>
          </a:p>
        </p:txBody>
      </p:sp>
      <p:sp>
        <p:nvSpPr>
          <p:cNvPr id="5" name="Cell Temp-Temp"/>
          <p:cNvSpPr/>
          <p:nvPr/>
        </p:nvSpPr>
        <p:spPr>
          <a:xfrm>
            <a:off x="1508760" y="1645920"/>
            <a:ext cx="576072" cy="475488"/>
          </a:xfrm>
          <a:prstGeom prst="rect">
            <a:avLst/>
          </a:prstGeom>
          <a:solidFill>
            <a:srgbClr val="1F7A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</a:t>
            </a:r>
            <a:endParaRPr lang="en-US" sz="1200" dirty="0"/>
          </a:p>
        </p:txBody>
      </p:sp>
      <p:sp>
        <p:nvSpPr>
          <p:cNvPr id="6" name="Cell Temp-Humid"/>
          <p:cNvSpPr/>
          <p:nvPr/>
        </p:nvSpPr>
        <p:spPr>
          <a:xfrm>
            <a:off x="2112264" y="1645920"/>
            <a:ext cx="576072" cy="475488"/>
          </a:xfrm>
          <a:prstGeom prst="rect">
            <a:avLst/>
          </a:prstGeom>
          <a:solidFill>
            <a:srgbClr val="DD77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-0.62</a:t>
            </a:r>
            <a:endParaRPr lang="en-US" sz="1200" dirty="0"/>
          </a:p>
        </p:txBody>
      </p:sp>
      <p:sp>
        <p:nvSpPr>
          <p:cNvPr id="7" name="Cell Temp-Press"/>
          <p:cNvSpPr/>
          <p:nvPr/>
        </p:nvSpPr>
        <p:spPr>
          <a:xfrm>
            <a:off x="2715768" y="1645920"/>
            <a:ext cx="576072" cy="475488"/>
          </a:xfrm>
          <a:prstGeom prst="rect">
            <a:avLst/>
          </a:prstGeom>
          <a:solidFill>
            <a:srgbClr val="FBEE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-0.08</a:t>
            </a:r>
            <a:endParaRPr lang="en-US" sz="1200" dirty="0"/>
          </a:p>
        </p:txBody>
      </p:sp>
      <p:sp>
        <p:nvSpPr>
          <p:cNvPr id="8" name="Cell Temp-Wind"/>
          <p:cNvSpPr/>
          <p:nvPr/>
        </p:nvSpPr>
        <p:spPr>
          <a:xfrm>
            <a:off x="3319272" y="1645920"/>
            <a:ext cx="576072" cy="475488"/>
          </a:xfrm>
          <a:prstGeom prst="rect">
            <a:avLst/>
          </a:prstGeom>
          <a:solidFill>
            <a:srgbClr val="ED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0.05</a:t>
            </a:r>
            <a:endParaRPr lang="en-US" sz="1200" dirty="0"/>
          </a:p>
        </p:txBody>
      </p:sp>
      <p:sp>
        <p:nvSpPr>
          <p:cNvPr id="9" name="Cell Temp-Rain"/>
          <p:cNvSpPr/>
          <p:nvPr/>
        </p:nvSpPr>
        <p:spPr>
          <a:xfrm>
            <a:off x="3922776" y="1645920"/>
            <a:ext cx="576072" cy="475488"/>
          </a:xfrm>
          <a:prstGeom prst="rect">
            <a:avLst/>
          </a:prstGeom>
          <a:solidFill>
            <a:srgbClr val="FCF3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-0.04</a:t>
            </a:r>
            <a:endParaRPr lang="en-US" sz="1200" dirty="0"/>
          </a:p>
        </p:txBody>
      </p:sp>
      <p:sp>
        <p:nvSpPr>
          <p:cNvPr id="10" name="Col label Humid"/>
          <p:cNvSpPr txBox="1"/>
          <p:nvPr/>
        </p:nvSpPr>
        <p:spPr>
          <a:xfrm>
            <a:off x="2112264" y="13258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Humid</a:t>
            </a:r>
            <a:endParaRPr lang="en-US" sz="1200" dirty="0"/>
          </a:p>
        </p:txBody>
      </p:sp>
      <p:sp>
        <p:nvSpPr>
          <p:cNvPr id="11" name="Row label Humid"/>
          <p:cNvSpPr txBox="1"/>
          <p:nvPr/>
        </p:nvSpPr>
        <p:spPr>
          <a:xfrm>
            <a:off x="457200" y="2148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Humid</a:t>
            </a:r>
            <a:endParaRPr lang="en-US" sz="1200" dirty="0"/>
          </a:p>
        </p:txBody>
      </p:sp>
      <p:sp>
        <p:nvSpPr>
          <p:cNvPr id="12" name="Cell Humid-Temp"/>
          <p:cNvSpPr/>
          <p:nvPr/>
        </p:nvSpPr>
        <p:spPr>
          <a:xfrm>
            <a:off x="1508760" y="2148840"/>
            <a:ext cx="576072" cy="475488"/>
          </a:xfrm>
          <a:prstGeom prst="rect">
            <a:avLst/>
          </a:prstGeom>
          <a:solidFill>
            <a:srgbClr val="DD77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-0.62</a:t>
            </a:r>
            <a:endParaRPr lang="en-US" sz="1200" dirty="0"/>
          </a:p>
        </p:txBody>
      </p:sp>
      <p:sp>
        <p:nvSpPr>
          <p:cNvPr id="13" name="Cell Humid-Humid"/>
          <p:cNvSpPr/>
          <p:nvPr/>
        </p:nvSpPr>
        <p:spPr>
          <a:xfrm>
            <a:off x="2112264" y="2148840"/>
            <a:ext cx="576072" cy="475488"/>
          </a:xfrm>
          <a:prstGeom prst="rect">
            <a:avLst/>
          </a:prstGeom>
          <a:solidFill>
            <a:srgbClr val="1F7A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</a:t>
            </a:r>
            <a:endParaRPr lang="en-US" sz="1200" dirty="0"/>
          </a:p>
        </p:txBody>
      </p:sp>
      <p:sp>
        <p:nvSpPr>
          <p:cNvPr id="14" name="Cell Humid-Press"/>
          <p:cNvSpPr/>
          <p:nvPr/>
        </p:nvSpPr>
        <p:spPr>
          <a:xfrm>
            <a:off x="2715768" y="2148840"/>
            <a:ext cx="576072" cy="475488"/>
          </a:xfrm>
          <a:prstGeom prst="rect">
            <a:avLst/>
          </a:prstGeom>
          <a:solidFill>
            <a:srgbClr val="F4D1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-0.21</a:t>
            </a:r>
            <a:endParaRPr lang="en-US" sz="1200" dirty="0"/>
          </a:p>
        </p:txBody>
      </p:sp>
      <p:sp>
        <p:nvSpPr>
          <p:cNvPr id="15" name="Cell Humid-Wind"/>
          <p:cNvSpPr/>
          <p:nvPr/>
        </p:nvSpPr>
        <p:spPr>
          <a:xfrm>
            <a:off x="3319272" y="2148840"/>
            <a:ext cx="576072" cy="475488"/>
          </a:xfrm>
          <a:prstGeom prst="rect">
            <a:avLst/>
          </a:prstGeom>
          <a:solidFill>
            <a:srgbClr val="FAE9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-0.10</a:t>
            </a:r>
            <a:endParaRPr lang="en-US" sz="1200" dirty="0"/>
          </a:p>
        </p:txBody>
      </p:sp>
      <p:sp>
        <p:nvSpPr>
          <p:cNvPr id="16" name="Cell Humid-Rain"/>
          <p:cNvSpPr/>
          <p:nvPr/>
        </p:nvSpPr>
        <p:spPr>
          <a:xfrm>
            <a:off x="3922776" y="2148840"/>
            <a:ext cx="576072" cy="475488"/>
          </a:xfrm>
          <a:prstGeom prst="rect">
            <a:avLst/>
          </a:prstGeom>
          <a:solidFill>
            <a:srgbClr val="9CC4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0.31</a:t>
            </a:r>
            <a:endParaRPr lang="en-US" sz="1200" dirty="0"/>
          </a:p>
        </p:txBody>
      </p:sp>
      <p:sp>
        <p:nvSpPr>
          <p:cNvPr id="17" name="Col label Press"/>
          <p:cNvSpPr txBox="1"/>
          <p:nvPr/>
        </p:nvSpPr>
        <p:spPr>
          <a:xfrm>
            <a:off x="2715768" y="13258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Press</a:t>
            </a:r>
            <a:endParaRPr lang="en-US" sz="1200" dirty="0"/>
          </a:p>
        </p:txBody>
      </p:sp>
      <p:sp>
        <p:nvSpPr>
          <p:cNvPr id="18" name="Row label Press"/>
          <p:cNvSpPr txBox="1"/>
          <p:nvPr/>
        </p:nvSpPr>
        <p:spPr>
          <a:xfrm>
            <a:off x="457200" y="26517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Press</a:t>
            </a:r>
            <a:endParaRPr lang="en-US" sz="1200" dirty="0"/>
          </a:p>
        </p:txBody>
      </p:sp>
      <p:sp>
        <p:nvSpPr>
          <p:cNvPr id="19" name="Cell Press-Temp"/>
          <p:cNvSpPr/>
          <p:nvPr/>
        </p:nvSpPr>
        <p:spPr>
          <a:xfrm>
            <a:off x="1508760" y="2651760"/>
            <a:ext cx="576072" cy="475488"/>
          </a:xfrm>
          <a:prstGeom prst="rect">
            <a:avLst/>
          </a:prstGeom>
          <a:solidFill>
            <a:srgbClr val="FBEE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-0.08</a:t>
            </a:r>
            <a:endParaRPr lang="en-US" sz="1200" dirty="0"/>
          </a:p>
        </p:txBody>
      </p:sp>
      <p:sp>
        <p:nvSpPr>
          <p:cNvPr id="20" name="Cell Press-Humid"/>
          <p:cNvSpPr/>
          <p:nvPr/>
        </p:nvSpPr>
        <p:spPr>
          <a:xfrm>
            <a:off x="2112264" y="2651760"/>
            <a:ext cx="576072" cy="475488"/>
          </a:xfrm>
          <a:prstGeom prst="rect">
            <a:avLst/>
          </a:prstGeom>
          <a:solidFill>
            <a:srgbClr val="F4D1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-0.21</a:t>
            </a:r>
            <a:endParaRPr lang="en-US" sz="1200" dirty="0"/>
          </a:p>
        </p:txBody>
      </p:sp>
      <p:sp>
        <p:nvSpPr>
          <p:cNvPr id="21" name="Cell Press-Press"/>
          <p:cNvSpPr/>
          <p:nvPr/>
        </p:nvSpPr>
        <p:spPr>
          <a:xfrm>
            <a:off x="2715768" y="2651760"/>
            <a:ext cx="576072" cy="475488"/>
          </a:xfrm>
          <a:prstGeom prst="rect">
            <a:avLst/>
          </a:prstGeom>
          <a:solidFill>
            <a:srgbClr val="1F7A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</a:t>
            </a:r>
            <a:endParaRPr lang="en-US" sz="1200" dirty="0"/>
          </a:p>
        </p:txBody>
      </p:sp>
      <p:sp>
        <p:nvSpPr>
          <p:cNvPr id="22" name="Cell Press-Wind"/>
          <p:cNvSpPr/>
          <p:nvPr/>
        </p:nvSpPr>
        <p:spPr>
          <a:xfrm>
            <a:off x="3319272" y="2651760"/>
            <a:ext cx="576072" cy="475488"/>
          </a:xfrm>
          <a:prstGeom prst="rect">
            <a:avLst/>
          </a:prstGeom>
          <a:solidFill>
            <a:srgbClr val="EDB5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-0.34</a:t>
            </a:r>
            <a:endParaRPr lang="en-US" sz="1200" dirty="0"/>
          </a:p>
        </p:txBody>
      </p:sp>
      <p:sp>
        <p:nvSpPr>
          <p:cNvPr id="23" name="Cell Press-Rain"/>
          <p:cNvSpPr/>
          <p:nvPr/>
        </p:nvSpPr>
        <p:spPr>
          <a:xfrm>
            <a:off x="3922776" y="2651760"/>
            <a:ext cx="576072" cy="475488"/>
          </a:xfrm>
          <a:prstGeom prst="rect">
            <a:avLst/>
          </a:prstGeom>
          <a:solidFill>
            <a:srgbClr val="F0C2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-0.28</a:t>
            </a:r>
            <a:endParaRPr lang="en-US" sz="1200" dirty="0"/>
          </a:p>
        </p:txBody>
      </p:sp>
      <p:sp>
        <p:nvSpPr>
          <p:cNvPr id="24" name="Col label Wind"/>
          <p:cNvSpPr txBox="1"/>
          <p:nvPr/>
        </p:nvSpPr>
        <p:spPr>
          <a:xfrm>
            <a:off x="3319272" y="13258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Wind</a:t>
            </a:r>
            <a:endParaRPr lang="en-US" sz="1200" dirty="0"/>
          </a:p>
        </p:txBody>
      </p:sp>
      <p:sp>
        <p:nvSpPr>
          <p:cNvPr id="25" name="Row label Wind"/>
          <p:cNvSpPr txBox="1"/>
          <p:nvPr/>
        </p:nvSpPr>
        <p:spPr>
          <a:xfrm>
            <a:off x="457200" y="3154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Wind</a:t>
            </a:r>
            <a:endParaRPr lang="en-US" sz="1200" dirty="0"/>
          </a:p>
        </p:txBody>
      </p:sp>
      <p:sp>
        <p:nvSpPr>
          <p:cNvPr id="26" name="Cell Wind-Temp"/>
          <p:cNvSpPr/>
          <p:nvPr/>
        </p:nvSpPr>
        <p:spPr>
          <a:xfrm>
            <a:off x="1508760" y="3154680"/>
            <a:ext cx="576072" cy="475488"/>
          </a:xfrm>
          <a:prstGeom prst="rect">
            <a:avLst/>
          </a:prstGeom>
          <a:solidFill>
            <a:srgbClr val="ED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0.05</a:t>
            </a:r>
            <a:endParaRPr lang="en-US" sz="1200" dirty="0"/>
          </a:p>
        </p:txBody>
      </p:sp>
      <p:sp>
        <p:nvSpPr>
          <p:cNvPr id="27" name="Cell Wind-Humid"/>
          <p:cNvSpPr/>
          <p:nvPr/>
        </p:nvSpPr>
        <p:spPr>
          <a:xfrm>
            <a:off x="2112264" y="3154680"/>
            <a:ext cx="576072" cy="475488"/>
          </a:xfrm>
          <a:prstGeom prst="rect">
            <a:avLst/>
          </a:prstGeom>
          <a:solidFill>
            <a:srgbClr val="FAE9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-0.10</a:t>
            </a:r>
            <a:endParaRPr lang="en-US" sz="1200" dirty="0"/>
          </a:p>
        </p:txBody>
      </p:sp>
      <p:sp>
        <p:nvSpPr>
          <p:cNvPr id="28" name="Cell Wind-Press"/>
          <p:cNvSpPr/>
          <p:nvPr/>
        </p:nvSpPr>
        <p:spPr>
          <a:xfrm>
            <a:off x="2715768" y="3154680"/>
            <a:ext cx="576072" cy="475488"/>
          </a:xfrm>
          <a:prstGeom prst="rect">
            <a:avLst/>
          </a:prstGeom>
          <a:solidFill>
            <a:srgbClr val="EDB5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-0.34</a:t>
            </a:r>
            <a:endParaRPr lang="en-US" sz="1200" dirty="0"/>
          </a:p>
        </p:txBody>
      </p:sp>
      <p:sp>
        <p:nvSpPr>
          <p:cNvPr id="29" name="Cell Wind-Wind"/>
          <p:cNvSpPr/>
          <p:nvPr/>
        </p:nvSpPr>
        <p:spPr>
          <a:xfrm>
            <a:off x="3319272" y="3154680"/>
            <a:ext cx="576072" cy="475488"/>
          </a:xfrm>
          <a:prstGeom prst="rect">
            <a:avLst/>
          </a:prstGeom>
          <a:solidFill>
            <a:srgbClr val="1F7A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</a:t>
            </a:r>
            <a:endParaRPr lang="en-US" sz="1200" dirty="0"/>
          </a:p>
        </p:txBody>
      </p:sp>
      <p:sp>
        <p:nvSpPr>
          <p:cNvPr id="30" name="Cell Wind-Rain"/>
          <p:cNvSpPr/>
          <p:nvPr/>
        </p:nvSpPr>
        <p:spPr>
          <a:xfrm>
            <a:off x="3922776" y="3154680"/>
            <a:ext cx="576072" cy="475488"/>
          </a:xfrm>
          <a:prstGeom prst="rect">
            <a:avLst/>
          </a:prstGeom>
          <a:solidFill>
            <a:srgbClr val="C5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0.18</a:t>
            </a:r>
            <a:endParaRPr lang="en-US" sz="1200" dirty="0"/>
          </a:p>
        </p:txBody>
      </p:sp>
      <p:sp>
        <p:nvSpPr>
          <p:cNvPr id="31" name="Col label Rain"/>
          <p:cNvSpPr txBox="1"/>
          <p:nvPr/>
        </p:nvSpPr>
        <p:spPr>
          <a:xfrm>
            <a:off x="3922776" y="13258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Rain</a:t>
            </a:r>
            <a:endParaRPr lang="en-US" sz="1200" dirty="0"/>
          </a:p>
        </p:txBody>
      </p:sp>
      <p:sp>
        <p:nvSpPr>
          <p:cNvPr id="32" name="Row label Rain"/>
          <p:cNvSpPr txBox="1"/>
          <p:nvPr/>
        </p:nvSpPr>
        <p:spPr>
          <a:xfrm>
            <a:off x="457200" y="36576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Rain</a:t>
            </a:r>
            <a:endParaRPr lang="en-US" sz="1200" dirty="0"/>
          </a:p>
        </p:txBody>
      </p:sp>
      <p:sp>
        <p:nvSpPr>
          <p:cNvPr id="33" name="Cell Rain-Temp"/>
          <p:cNvSpPr/>
          <p:nvPr/>
        </p:nvSpPr>
        <p:spPr>
          <a:xfrm>
            <a:off x="1508760" y="3657600"/>
            <a:ext cx="576072" cy="475488"/>
          </a:xfrm>
          <a:prstGeom prst="rect">
            <a:avLst/>
          </a:prstGeom>
          <a:solidFill>
            <a:srgbClr val="FCF3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-0.04</a:t>
            </a:r>
            <a:endParaRPr lang="en-US" sz="1200" dirty="0"/>
          </a:p>
        </p:txBody>
      </p:sp>
      <p:sp>
        <p:nvSpPr>
          <p:cNvPr id="34" name="Cell Rain-Humid"/>
          <p:cNvSpPr/>
          <p:nvPr/>
        </p:nvSpPr>
        <p:spPr>
          <a:xfrm>
            <a:off x="2112264" y="3657600"/>
            <a:ext cx="576072" cy="475488"/>
          </a:xfrm>
          <a:prstGeom prst="rect">
            <a:avLst/>
          </a:prstGeom>
          <a:solidFill>
            <a:srgbClr val="9CC4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0.31</a:t>
            </a:r>
            <a:endParaRPr lang="en-US" sz="1200" dirty="0"/>
          </a:p>
        </p:txBody>
      </p:sp>
      <p:sp>
        <p:nvSpPr>
          <p:cNvPr id="35" name="Cell Rain-Press"/>
          <p:cNvSpPr/>
          <p:nvPr/>
        </p:nvSpPr>
        <p:spPr>
          <a:xfrm>
            <a:off x="2715768" y="3657600"/>
            <a:ext cx="576072" cy="475488"/>
          </a:xfrm>
          <a:prstGeom prst="rect">
            <a:avLst/>
          </a:prstGeom>
          <a:solidFill>
            <a:srgbClr val="F0C2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-0.28</a:t>
            </a:r>
            <a:endParaRPr lang="en-US" sz="1200" dirty="0"/>
          </a:p>
        </p:txBody>
      </p:sp>
      <p:sp>
        <p:nvSpPr>
          <p:cNvPr id="36" name="Cell Rain-Wind"/>
          <p:cNvSpPr/>
          <p:nvPr/>
        </p:nvSpPr>
        <p:spPr>
          <a:xfrm>
            <a:off x="3319272" y="3657600"/>
            <a:ext cx="576072" cy="475488"/>
          </a:xfrm>
          <a:prstGeom prst="rect">
            <a:avLst/>
          </a:prstGeom>
          <a:solidFill>
            <a:srgbClr val="C5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</a:rPr>
              <a:t>0.18</a:t>
            </a:r>
            <a:endParaRPr lang="en-US" sz="1200" dirty="0"/>
          </a:p>
        </p:txBody>
      </p:sp>
      <p:sp>
        <p:nvSpPr>
          <p:cNvPr id="37" name="Cell Rain-Rain"/>
          <p:cNvSpPr/>
          <p:nvPr/>
        </p:nvSpPr>
        <p:spPr>
          <a:xfrm>
            <a:off x="3922776" y="3657600"/>
            <a:ext cx="576072" cy="475488"/>
          </a:xfrm>
          <a:prstGeom prst="rect">
            <a:avLst/>
          </a:prstGeom>
          <a:solidFill>
            <a:srgbClr val="1F7A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1.00</a:t>
            </a:r>
            <a:endParaRPr lang="en-US" sz="1200" dirty="0"/>
          </a:p>
        </p:txBody>
      </p:sp>
      <p:sp>
        <p:nvSpPr>
          <p:cNvPr id="38" name="Heatmap caption"/>
          <p:cNvSpPr txBox="1"/>
          <p:nvPr/>
        </p:nvSpPr>
        <p:spPr>
          <a:xfrm>
            <a:off x="45720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Pearson r  |  teal = positive, orange = negative</a:t>
            </a:r>
            <a:endParaRPr lang="en-US" sz="1100" dirty="0"/>
          </a:p>
        </p:txBody>
      </p:sp>
      <p:sp>
        <p:nvSpPr>
          <p:cNvPr id="39" name="Takeaways heading"/>
          <p:cNvSpPr txBox="1"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stands out</a:t>
            </a:r>
            <a:endParaRPr lang="en-US" sz="1800" dirty="0"/>
          </a:p>
        </p:txBody>
      </p:sp>
      <p:sp>
        <p:nvSpPr>
          <p:cNvPr id="40" name="Takeaways list"/>
          <p:cNvSpPr txBox="1"/>
          <p:nvPr/>
        </p:nvSpPr>
        <p:spPr>
          <a:xfrm>
            <a:off x="521208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and humidity move in opposite directions (r = -0.62)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Rain rises with humidity (0.31) and falls with pressure (-0.28)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Wind and pressure are weakly inversely linked (-0.34)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Outliers and anomalies</a:t>
            </a:r>
            <a:endParaRPr lang="en-US" sz="3600" dirty="0"/>
          </a:p>
        </p:txBody>
      </p:sp>
      <p:sp>
        <p:nvSpPr>
          <p:cNvPr id="3" name="Method card 1"/>
          <p:cNvSpPr/>
          <p:nvPr/>
        </p:nvSpPr>
        <p:spPr>
          <a:xfrm>
            <a:off x="45720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4" name="Method number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Method title 1"/>
          <p:cNvSpPr txBox="1"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IQR rule</a:t>
            </a:r>
            <a:endParaRPr lang="en-US" sz="1800" dirty="0"/>
          </a:p>
        </p:txBody>
      </p:sp>
      <p:sp>
        <p:nvSpPr>
          <p:cNvPr id="6" name="Method text 1"/>
          <p:cNvSpPr txBox="1"/>
          <p:nvPr/>
        </p:nvSpPr>
        <p:spPr>
          <a:xfrm>
            <a:off x="64008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Flags values beyond 1.5x the interquartile range. Robust for skewed rainfall.</a:t>
            </a:r>
            <a:endParaRPr lang="en-US" sz="1400" dirty="0"/>
          </a:p>
        </p:txBody>
      </p:sp>
      <p:sp>
        <p:nvSpPr>
          <p:cNvPr id="7" name="Method card 2"/>
          <p:cNvSpPr/>
          <p:nvPr/>
        </p:nvSpPr>
        <p:spPr>
          <a:xfrm>
            <a:off x="329184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8" name="Method number 2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Method title 2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Z-score</a:t>
            </a:r>
            <a:endParaRPr lang="en-US" sz="1800" dirty="0"/>
          </a:p>
        </p:txBody>
      </p:sp>
      <p:sp>
        <p:nvSpPr>
          <p:cNvPr id="10" name="Method text 2"/>
          <p:cNvSpPr txBox="1"/>
          <p:nvPr/>
        </p:nvSpPr>
        <p:spPr>
          <a:xfrm>
            <a:off x="347472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Flags readings more than 3 standard deviations from the mean. Suits temperature.</a:t>
            </a:r>
            <a:endParaRPr lang="en-US" sz="1400" dirty="0"/>
          </a:p>
        </p:txBody>
      </p:sp>
      <p:sp>
        <p:nvSpPr>
          <p:cNvPr id="11" name="Method card 3"/>
          <p:cNvSpPr/>
          <p:nvPr/>
        </p:nvSpPr>
        <p:spPr>
          <a:xfrm>
            <a:off x="6126480" y="128016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12" name="Method number 3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Method title 3"/>
          <p:cNvSpPr txBox="1"/>
          <p:nvPr/>
        </p:nvSpPr>
        <p:spPr>
          <a:xfrm>
            <a:off x="63093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Rolling median</a:t>
            </a:r>
            <a:endParaRPr lang="en-US" sz="1800" dirty="0"/>
          </a:p>
        </p:txBody>
      </p:sp>
      <p:sp>
        <p:nvSpPr>
          <p:cNvPr id="14" name="Method text 3"/>
          <p:cNvSpPr txBox="1"/>
          <p:nvPr/>
        </p:nvSpPr>
        <p:spPr>
          <a:xfrm>
            <a:off x="630936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Compares each hour with a moving window to catch sudden sensor spikes.</a:t>
            </a:r>
            <a:endParaRPr lang="en-US" sz="1400" dirty="0"/>
          </a:p>
        </p:txBody>
      </p:sp>
      <p:sp>
        <p:nvSpPr>
          <p:cNvPr id="15" name="Caution banner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6" name="Caution text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flagged values against physical limits before dropping them: a 41 mm/h burst may be a real storm.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starter workflow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457200" y="1280160"/>
            <a:ext cx="521208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4" name="Code text"/>
          <p:cNvSpPr txBox="1"/>
          <p:nvPr/>
        </p:nvSpPr>
        <p:spPr>
          <a:xfrm>
            <a:off x="640080" y="14173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pd.read_csv('weather.csv')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df['time'] = pd.to_datetime(df['time'])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df.set_index('time')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df.info(); df.describe()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df.isna().mean().sort_values()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df['temp'].plot.hist(bins=30)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df['temp'].resample('M').mean().plot()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df['rain'].resample('M').sum().plot.bar()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</a:t>
            </a:r>
            <a:endParaRPr lang="en-US" sz="1200" dirty="0"/>
          </a:p>
        </p:txBody>
      </p:sp>
      <p:sp>
        <p:nvSpPr>
          <p:cNvPr id="5" name="Code caption"/>
          <p:cNvSpPr txBox="1"/>
          <p:nvPr/>
        </p:nvSpPr>
        <p:spPr>
          <a:xfrm>
            <a:off x="45720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Adjust file and column names to match your data.</a:t>
            </a:r>
            <a:endParaRPr lang="en-US" sz="1100" dirty="0"/>
          </a:p>
        </p:txBody>
      </p:sp>
      <p:sp>
        <p:nvSpPr>
          <p:cNvPr id="6" name="Toolkit heading"/>
          <p:cNvSpPr txBox="1"/>
          <p:nvPr/>
        </p:nvSpPr>
        <p:spPr>
          <a:xfrm>
            <a:off x="60350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Handy toolkit</a:t>
            </a:r>
            <a:endParaRPr lang="en-US" sz="1800" dirty="0"/>
          </a:p>
        </p:txBody>
      </p:sp>
      <p:sp>
        <p:nvSpPr>
          <p:cNvPr id="7" name="Toolkit list"/>
          <p:cNvSpPr txBox="1"/>
          <p:nvPr/>
        </p:nvSpPr>
        <p:spPr>
          <a:xfrm>
            <a:off x="6035040" y="17830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pandas: load, clean, resample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matplotlib and seaborn: plots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scipy and statsmodels: tests and decomposition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Takeaways and next steps</a:t>
            </a:r>
            <a:endParaRPr lang="en-US" sz="3600" dirty="0"/>
          </a:p>
        </p:txBody>
      </p:sp>
      <p:sp>
        <p:nvSpPr>
          <p:cNvPr id="3" name="Findings heading"/>
          <p:cNvSpPr txBox="1"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What we found</a:t>
            </a:r>
            <a:endParaRPr lang="en-US" sz="2000" dirty="0"/>
          </a:p>
        </p:txBody>
      </p:sp>
      <p:sp>
        <p:nvSpPr>
          <p:cNvPr id="4" name="Findings list"/>
          <p:cNvSpPr txBox="1"/>
          <p:nvPr/>
        </p:nvSpPr>
        <p:spPr>
          <a:xfrm>
            <a:off x="548640" y="20574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Clear seasonal cycle in temperature and rainfall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Humidity is the strongest correlate of temperature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Gaps are concentrated in cloud cover and visibility</a:t>
            </a:r>
            <a:endParaRPr lang="en-US" sz="1600" dirty="0"/>
          </a:p>
        </p:txBody>
      </p:sp>
      <p:sp>
        <p:nvSpPr>
          <p:cNvPr id="5" name="Next steps heading"/>
          <p:cNvSpPr txBox="1"/>
          <p:nvPr/>
        </p:nvSpPr>
        <p:spPr>
          <a:xfrm>
            <a:off x="484632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6" name="Next steps list"/>
          <p:cNvSpPr txBox="1"/>
          <p:nvPr/>
        </p:nvSpPr>
        <p:spPr>
          <a:xfrm>
            <a:off x="4846320" y="20574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Impute gaps, then re-check distributions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Decompose trend and seasonality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Build a baseline forecasting model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ther EDA">
  <a:themeElements>
    <a:clrScheme name="Weather EDA">
      <a:dk1>
        <a:srgbClr val="1B2A3A"/>
      </a:dk1>
      <a:lt1>
        <a:srgbClr val="FFFFFF"/>
      </a:lt1>
      <a:dk2>
        <a:srgbClr val="12304A"/>
      </a:dk2>
      <a:lt2>
        <a:srgbClr val="EDF3F7"/>
      </a:lt2>
      <a:accent1>
        <a:srgbClr val="1F7A99"/>
      </a:accent1>
      <a:accent2>
        <a:srgbClr val="F2A541"/>
      </a:accent2>
      <a:accent3>
        <a:srgbClr val="4FA89B"/>
      </a:accent3>
      <a:accent4>
        <a:srgbClr val="D9663F"/>
      </a:accent4>
      <a:accent5>
        <a:srgbClr val="7A8BA3"/>
      </a:accent5>
      <a:accent6>
        <a:srgbClr val="3E5C76"/>
      </a:accent6>
      <a:hlink>
        <a:srgbClr val="1F7A99"/>
      </a:hlink>
      <a:folHlink>
        <a:srgbClr val="7A8BA3"/>
      </a:folHlink>
    </a:clrScheme>
    <a:fontScheme name="Weather E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Weather Data</dc:title>
  <dc:subject>PptxGenJS Presentation</dc:subject>
  <dc:creator>PptxGenJS</dc:creator>
  <cp:lastModifiedBy>PptxGenJS</cp:lastModifiedBy>
  <cp:revision>1</cp:revision>
  <dcterms:created xsi:type="dcterms:W3CDTF">2026-10-28T04:42:28Z</dcterms:created>
  <dcterms:modified xsi:type="dcterms:W3CDTF">2026-10-28T04:42:28Z</dcterms:modified>
</cp:coreProperties>
</file>